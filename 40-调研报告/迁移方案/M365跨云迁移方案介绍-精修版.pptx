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5" r:id="rId27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30"/>
    <p:sldId id="268" r:id="rId14"/>
    <p:sldId id="269" r:id="rId15"/>
    <p:sldId id="270" r:id="rId16"/>
    <p:sldId id="271" r:id="rId17"/>
    <p:sldId id="272" r:id="rId18"/>
    <p:sldId id="277" r:id="rId29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openxmlformats.org/officeDocument/2006/relationships/slide" Target="slides/slide6.xml"/><Relationship Id="rId29" Type="http://schemas.openxmlformats.org/officeDocument/2006/relationships/slide" Target="slides/slide20.xml"/><Relationship Id="rId30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i Wang" userId="30c15c9f-3647-4ecd-b84c-d48e05571ec6" providerId="ADAL" clId="{07DC1D60-6D65-4F12-847B-8060FD195C62}"/>
    <pc:docChg chg="custSel modSld">
      <pc:chgData name="Pei Wang" userId="30c15c9f-3647-4ecd-b84c-d48e05571ec6" providerId="ADAL" clId="{07DC1D60-6D65-4F12-847B-8060FD195C62}" dt="2026-06-05T16:22:23.187" v="22" actId="26606"/>
      <pc:docMkLst>
        <pc:docMk/>
      </pc:docMkLst>
      <pc:sldChg chg="addSp delSp modSp mod">
        <pc:chgData name="Pei Wang" userId="30c15c9f-3647-4ecd-b84c-d48e05571ec6" providerId="ADAL" clId="{07DC1D60-6D65-4F12-847B-8060FD195C62}" dt="2026-06-05T16:01:35.162" v="7" actId="26606"/>
        <pc:sldMkLst>
          <pc:docMk/>
          <pc:sldMk cId="0" sldId="256"/>
        </pc:sldMkLst>
        <pc:spChg chg="del mod">
          <ac:chgData name="Pei Wang" userId="30c15c9f-3647-4ecd-b84c-d48e05571ec6" providerId="ADAL" clId="{07DC1D60-6D65-4F12-847B-8060FD195C62}" dt="2026-06-05T16:01:35.162" v="7" actId="2660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Pei Wang" userId="30c15c9f-3647-4ecd-b84c-d48e05571ec6" providerId="ADAL" clId="{07DC1D60-6D65-4F12-847B-8060FD195C62}" dt="2026-06-05T16:01:35.162" v="7" actId="26606"/>
          <ac:spMkLst>
            <pc:docMk/>
            <pc:sldMk cId="0" sldId="256"/>
            <ac:spMk id="6" creationId="{00000000-0000-0000-0000-000000000000}"/>
          </ac:spMkLst>
        </pc:spChg>
        <pc:spChg chg="del">
          <ac:chgData name="Pei Wang" userId="30c15c9f-3647-4ecd-b84c-d48e05571ec6" providerId="ADAL" clId="{07DC1D60-6D65-4F12-847B-8060FD195C62}" dt="2026-06-05T16:01:35.162" v="7" actId="2660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53:47.060" v="4" actId="26606"/>
          <ac:spMkLst>
            <pc:docMk/>
            <pc:sldMk cId="0" sldId="256"/>
            <ac:spMk id="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56:40.037" v="5" actId="26606"/>
          <ac:spMkLst>
            <pc:docMk/>
            <pc:sldMk cId="0" sldId="256"/>
            <ac:spMk id="9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56:40.037" v="5" actId="26606"/>
          <ac:spMkLst>
            <pc:docMk/>
            <pc:sldMk cId="0" sldId="256"/>
            <ac:spMk id="10" creationId="{00000000-0000-0000-0000-000000000000}"/>
          </ac:spMkLst>
        </pc:spChg>
        <pc:spChg chg="del mod replId">
          <ac:chgData name="Pei Wang" userId="30c15c9f-3647-4ecd-b84c-d48e05571ec6" providerId="ADAL" clId="{07DC1D60-6D65-4F12-847B-8060FD195C62}" dt="2026-06-05T16:01:35.162" v="7" actId="26606"/>
          <ac:spMkLst>
            <pc:docMk/>
            <pc:sldMk cId="0" sldId="256"/>
            <ac:spMk id="11" creationId="{00000000-0000-0000-0000-000000000000}"/>
          </ac:spMkLst>
        </pc:spChg>
        <pc:spChg chg="del mod">
          <ac:chgData name="Pei Wang" userId="30c15c9f-3647-4ecd-b84c-d48e05571ec6" providerId="ADAL" clId="{07DC1D60-6D65-4F12-847B-8060FD195C62}" dt="2026-06-05T15:56:40.037" v="5" actId="26606"/>
          <ac:spMkLst>
            <pc:docMk/>
            <pc:sldMk cId="0" sldId="256"/>
            <ac:spMk id="11" creationId="{00000000-0000-0000-0000-000000000000}"/>
          </ac:spMkLst>
        </pc:spChg>
        <pc:spChg chg="del">
          <ac:chgData name="Pei Wang" userId="30c15c9f-3647-4ecd-b84c-d48e05571ec6" providerId="ADAL" clId="{07DC1D60-6D65-4F12-847B-8060FD195C62}" dt="2026-06-05T15:56:40.037" v="5" actId="2660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50:00.808" v="3" actId="2660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7:29.225" v="2" actId="26606"/>
          <ac:spMkLst>
            <pc:docMk/>
            <pc:sldMk cId="0" sldId="256"/>
            <ac:spMk id="14" creationId="{00000000-0000-0000-0000-000000000000}"/>
          </ac:spMkLst>
        </pc:spChg>
        <pc:picChg chg="add">
          <ac:chgData name="Pei Wang" userId="30c15c9f-3647-4ecd-b84c-d48e05571ec6" providerId="ADAL" clId="{07DC1D60-6D65-4F12-847B-8060FD195C62}" dt="2026-06-05T16:01:35.162" v="7" actId="26606"/>
          <ac:picMkLst>
            <pc:docMk/>
            <pc:sldMk cId="0" sldId="256"/>
            <ac:picMk id="4" creationId="{00000000-0000-0000-0000-000000000000}"/>
          </ac:picMkLst>
        </pc:pic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58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58"/>
            <ac:spMk id="20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59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59"/>
            <ac:spMk id="3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59"/>
            <ac:spMk id="44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60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0"/>
            <ac:spMk id="27" creationId="{00000000-0000-0000-0000-000000000000}"/>
          </ac:spMkLst>
        </pc:spChg>
      </pc:sldChg>
      <pc:sldChg chg="delSp modSp mod">
        <pc:chgData name="Pei Wang" userId="30c15c9f-3647-4ecd-b84c-d48e05571ec6" providerId="ADAL" clId="{07DC1D60-6D65-4F12-847B-8060FD195C62}" dt="2026-06-05T16:22:23.187" v="22" actId="26606"/>
        <pc:sldMkLst>
          <pc:docMk/>
          <pc:sldMk cId="0" sldId="261"/>
        </pc:sldMkLst>
        <pc:spChg chg="mod">
          <ac:chgData name="Pei Wang" userId="30c15c9f-3647-4ecd-b84c-d48e05571ec6" providerId="ADAL" clId="{07DC1D60-6D65-4F12-847B-8060FD195C62}" dt="2026-06-05T16:14:52.798" v="15" actId="26606"/>
          <ac:spMkLst>
            <pc:docMk/>
            <pc:sldMk cId="0" sldId="261"/>
            <ac:spMk id="5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14:52.798" v="15" actId="2660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14:52.798" v="15" actId="2660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09:46.999" v="14" actId="2660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14:52.798" v="15" actId="2660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1"/>
            <ac:spMk id="22" creationId="{00000000-0000-0000-0000-000000000000}"/>
          </ac:spMkLst>
        </pc:spChg>
        <pc:spChg chg="del">
          <ac:chgData name="Pei Wang" userId="30c15c9f-3647-4ecd-b84c-d48e05571ec6" providerId="ADAL" clId="{07DC1D60-6D65-4F12-847B-8060FD195C62}" dt="2026-06-05T16:09:46.999" v="14" actId="26606"/>
          <ac:spMkLst>
            <pc:docMk/>
            <pc:sldMk cId="0" sldId="261"/>
            <ac:spMk id="24" creationId="{00000000-0000-0000-0000-000000000000}"/>
          </ac:spMkLst>
        </pc:spChg>
        <pc:spChg chg="del">
          <ac:chgData name="Pei Wang" userId="30c15c9f-3647-4ecd-b84c-d48e05571ec6" providerId="ADAL" clId="{07DC1D60-6D65-4F12-847B-8060FD195C62}" dt="2026-06-05T16:09:46.999" v="14" actId="2660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1"/>
            <ac:spMk id="26" creationId="{00000000-0000-0000-0000-000000000000}"/>
          </ac:spMkLst>
        </pc:spChg>
        <pc:spChg chg="del">
          <ac:chgData name="Pei Wang" userId="30c15c9f-3647-4ecd-b84c-d48e05571ec6" providerId="ADAL" clId="{07DC1D60-6D65-4F12-847B-8060FD195C62}" dt="2026-06-05T16:09:46.999" v="14" actId="2660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14:52.798" v="15" actId="2660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14:52.798" v="15" actId="2660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09:46.999" v="14" actId="26606"/>
          <ac:spMkLst>
            <pc:docMk/>
            <pc:sldMk cId="0" sldId="261"/>
            <ac:spMk id="33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09:46.999" v="14" actId="2660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14:52.798" v="15" actId="2660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14:52.798" v="15" actId="2660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14:52.798" v="15" actId="26606"/>
          <ac:spMkLst>
            <pc:docMk/>
            <pc:sldMk cId="0" sldId="261"/>
            <ac:spMk id="41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14:52.798" v="15" actId="26606"/>
          <ac:spMkLst>
            <pc:docMk/>
            <pc:sldMk cId="0" sldId="261"/>
            <ac:spMk id="42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6:22:23.187" v="22" actId="26606"/>
          <ac:spMkLst>
            <pc:docMk/>
            <pc:sldMk cId="0" sldId="261"/>
            <ac:spMk id="47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1"/>
            <ac:spMk id="52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1"/>
            <ac:spMk id="53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1"/>
            <ac:spMk id="54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1"/>
            <ac:spMk id="5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1"/>
            <ac:spMk id="65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1"/>
            <ac:spMk id="66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62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2"/>
            <ac:spMk id="18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63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3"/>
            <ac:spMk id="23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64"/>
        </pc:sldMkLst>
        <pc:spChg chg="mod">
          <ac:chgData name="Pei Wang" userId="30c15c9f-3647-4ecd-b84c-d48e05571ec6" providerId="ADAL" clId="{07DC1D60-6D65-4F12-847B-8060FD195C62}" dt="2026-06-05T15:20:07.670" v="0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20:07.670" v="0" actId="26606"/>
          <ac:spMkLst>
            <pc:docMk/>
            <pc:sldMk cId="0" sldId="264"/>
            <ac:spMk id="6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20:07.670" v="0" actId="2660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20:07.670" v="0" actId="2660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20:07.670" v="0" actId="2660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20:07.670" v="0" actId="2660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20:07.670" v="0" actId="2660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4"/>
            <ac:spMk id="28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65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5"/>
            <ac:spMk id="27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66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6"/>
            <ac:spMk id="20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67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7"/>
            <ac:spMk id="32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68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8"/>
            <ac:spMk id="5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8"/>
            <ac:spMk id="7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8"/>
            <ac:spMk id="32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69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9"/>
            <ac:spMk id="4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9"/>
            <ac:spMk id="7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69"/>
            <ac:spMk id="33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70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70"/>
            <ac:spMk id="29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72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72"/>
            <ac:spMk id="20" creationId="{00000000-0000-0000-0000-000000000000}"/>
          </ac:spMkLst>
        </pc:spChg>
      </pc:sldChg>
      <pc:sldChg chg="modSp mod">
        <pc:chgData name="Pei Wang" userId="30c15c9f-3647-4ecd-b84c-d48e05571ec6" providerId="ADAL" clId="{07DC1D60-6D65-4F12-847B-8060FD195C62}" dt="2026-06-05T15:41:57.184" v="1" actId="26606"/>
        <pc:sldMkLst>
          <pc:docMk/>
          <pc:sldMk cId="0" sldId="273"/>
        </pc:sldMkLst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73"/>
            <ac:spMk id="30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1:57.184" v="1" actId="26606"/>
          <ac:spMkLst>
            <pc:docMk/>
            <pc:sldMk cId="0" sldId="273"/>
            <ac:spMk id="31" creationId="{00000000-0000-0000-0000-000000000000}"/>
          </ac:spMkLst>
        </pc:spChg>
      </pc:sldChg>
      <pc:sldChg chg="addSp delSp modSp mod">
        <pc:chgData name="Pei Wang" userId="30c15c9f-3647-4ecd-b84c-d48e05571ec6" providerId="ADAL" clId="{07DC1D60-6D65-4F12-847B-8060FD195C62}" dt="2026-06-05T16:22:23.187" v="22" actId="26606"/>
        <pc:sldMkLst>
          <pc:docMk/>
          <pc:sldMk cId="0" sldId="274"/>
        </pc:sldMkLst>
        <pc:spChg chg="del mod">
          <ac:chgData name="Pei Wang" userId="30c15c9f-3647-4ecd-b84c-d48e05571ec6" providerId="ADAL" clId="{07DC1D60-6D65-4F12-847B-8060FD195C62}" dt="2026-06-05T16:01:35.162" v="7" actId="26606"/>
          <ac:spMkLst>
            <pc:docMk/>
            <pc:sldMk cId="0" sldId="274"/>
            <ac:spMk id="4" creationId="{00000000-0000-0000-0000-000000000000}"/>
          </ac:spMkLst>
        </pc:spChg>
        <pc:spChg chg="del mod">
          <ac:chgData name="Pei Wang" userId="30c15c9f-3647-4ecd-b84c-d48e05571ec6" providerId="ADAL" clId="{07DC1D60-6D65-4F12-847B-8060FD195C62}" dt="2026-06-05T16:01:35.162" v="7" actId="26606"/>
          <ac:spMkLst>
            <pc:docMk/>
            <pc:sldMk cId="0" sldId="274"/>
            <ac:spMk id="5" creationId="{00000000-0000-0000-0000-000000000000}"/>
          </ac:spMkLst>
        </pc:spChg>
        <pc:spChg chg="del">
          <ac:chgData name="Pei Wang" userId="30c15c9f-3647-4ecd-b84c-d48e05571ec6" providerId="ADAL" clId="{07DC1D60-6D65-4F12-847B-8060FD195C62}" dt="2026-06-05T16:01:35.162" v="7" actId="26606"/>
          <ac:spMkLst>
            <pc:docMk/>
            <pc:sldMk cId="0" sldId="274"/>
            <ac:spMk id="6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7:29.225" v="2" actId="26606"/>
          <ac:spMkLst>
            <pc:docMk/>
            <pc:sldMk cId="0" sldId="274"/>
            <ac:spMk id="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7:29.225" v="2" actId="2660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7:29.225" v="2" actId="26606"/>
          <ac:spMkLst>
            <pc:docMk/>
            <pc:sldMk cId="0" sldId="274"/>
            <ac:spMk id="14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7:29.225" v="2" actId="2660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7:29.225" v="2" actId="26606"/>
          <ac:spMkLst>
            <pc:docMk/>
            <pc:sldMk cId="0" sldId="274"/>
            <ac:spMk id="22" creationId="{00000000-0000-0000-0000-000000000000}"/>
          </ac:spMkLst>
        </pc:spChg>
        <pc:spChg chg="mod">
          <ac:chgData name="Pei Wang" userId="30c15c9f-3647-4ecd-b84c-d48e05571ec6" providerId="ADAL" clId="{07DC1D60-6D65-4F12-847B-8060FD195C62}" dt="2026-06-05T15:47:29.225" v="2" actId="26606"/>
          <ac:spMkLst>
            <pc:docMk/>
            <pc:sldMk cId="0" sldId="274"/>
            <ac:spMk id="26" creationId="{00000000-0000-0000-0000-000000000000}"/>
          </ac:spMkLst>
        </pc:spChg>
        <pc:spChg chg="add del">
          <ac:chgData name="Pei Wang" userId="30c15c9f-3647-4ecd-b84c-d48e05571ec6" providerId="ADAL" clId="{07DC1D60-6D65-4F12-847B-8060FD195C62}" dt="2026-06-05T16:22:23.187" v="22" actId="26606"/>
          <ac:spMkLst>
            <pc:docMk/>
            <pc:sldMk cId="0" sldId="274"/>
            <ac:spMk id="29" creationId="{00000000-0000-0000-0000-000000000000}"/>
          </ac:spMkLst>
        </pc:spChg>
        <pc:spChg chg="del mod replId">
          <ac:chgData name="Pei Wang" userId="30c15c9f-3647-4ecd-b84c-d48e05571ec6" providerId="ADAL" clId="{07DC1D60-6D65-4F12-847B-8060FD195C62}" dt="2026-06-05T16:01:35.162" v="7" actId="26606"/>
          <ac:spMkLst>
            <pc:docMk/>
            <pc:sldMk cId="0" sldId="274"/>
            <ac:spMk id="30" creationId="{00000000-0000-0000-0000-000000000000}"/>
          </ac:spMkLst>
        </pc:spChg>
        <pc:picChg chg="add">
          <ac:chgData name="Pei Wang" userId="30c15c9f-3647-4ecd-b84c-d48e05571ec6" providerId="ADAL" clId="{07DC1D60-6D65-4F12-847B-8060FD195C62}" dt="2026-06-05T16:01:35.162" v="7" actId="26606"/>
          <ac:picMkLst>
            <pc:docMk/>
            <pc:sldMk cId="0" sldId="274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B218B-65B0-42F6-ADF1-48D769891AE4}" type="datetimeFigureOut"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BC998-5EDA-44D2-A993-47D5A0B4F103}" type="slidenum"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5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Microsof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77240"/>
            <a:ext cx="868680" cy="868680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1672080" y="777240"/>
            <a:ext cx="9879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>
                <a:solidFill>
                  <a:srgbClr val="FFFFF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Microsoft 365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000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跨云迁移方案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37200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世纪互联（21Vianet）版  →  Global 全球版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516636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Pei Wang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AB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　|　日期：2026-06-05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本次汇报内容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27168" cy="603504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4864" cy="60350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1371600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08760" y="1444752"/>
            <a:ext cx="422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背景与目标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08760" y="1709928"/>
            <a:ext cx="422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为什么迁、迁到哪、达成什么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084832"/>
            <a:ext cx="5227168" cy="603504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084832"/>
            <a:ext cx="54864" cy="60350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4672" y="2084832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2157984"/>
            <a:ext cx="422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迁移方案与原则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08760" y="2423160"/>
            <a:ext cx="422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整体架构、角色与迁移方法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98064"/>
            <a:ext cx="5227168" cy="603504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2798064"/>
            <a:ext cx="54864" cy="60350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4672" y="2798064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08760" y="2871216"/>
            <a:ext cx="422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迁移内容与规模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08760" y="3136392"/>
            <a:ext cx="422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产品范围与数据规模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511296"/>
            <a:ext cx="5227168" cy="603504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511296"/>
            <a:ext cx="54864" cy="60350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04672" y="3511296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08760" y="3584448"/>
            <a:ext cx="422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迁移限制与用户影响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08760" y="3849624"/>
            <a:ext cx="422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边界、特殊处理与用户配合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224528"/>
            <a:ext cx="5227168" cy="603504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54864" cy="60350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04672" y="4224528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508760" y="4297680"/>
            <a:ext cx="422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迁移步骤总览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508760" y="4562856"/>
            <a:ext cx="422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准备 · 验证 · 迁移 · 复核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24448" y="1371600"/>
            <a:ext cx="5227168" cy="603504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324448" y="1371600"/>
            <a:ext cx="54864" cy="60350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89040" y="1371600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193128" y="1444752"/>
            <a:ext cx="422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SharePoint Online 详案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193128" y="1709928"/>
            <a:ext cx="422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范围盘点、权限、限流与验收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24448" y="2084832"/>
            <a:ext cx="5227168" cy="603504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324448" y="2084832"/>
            <a:ext cx="54864" cy="60350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89040" y="2084832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193128" y="2157984"/>
            <a:ext cx="422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域名切换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193128" y="2423160"/>
            <a:ext cx="422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切换窗口与影响控制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24448" y="2798064"/>
            <a:ext cx="5227168" cy="603504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324448" y="2798064"/>
            <a:ext cx="54864" cy="60350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489040" y="2798064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7193128" y="2871216"/>
            <a:ext cx="422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系统验证与验收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193128" y="3136392"/>
            <a:ext cx="422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各产品验证与签字确认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24448" y="3511296"/>
            <a:ext cx="5227168" cy="603504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324448" y="3511296"/>
            <a:ext cx="54864" cy="60350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489040" y="3511296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7193128" y="3584448"/>
            <a:ext cx="422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回切与源租户退役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193128" y="3849624"/>
            <a:ext cx="422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异常回切与收尾清理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　背景与目标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迁移背景与目标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迁移背景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贵方当前使用世纪互联（21Vianet）运营的 Microsoft 365，与 Global 全球版属于两个相互独立、彼此隔离的云环境。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为支持全球协作、集中管理与后续业务整合，计划将邮箱、文件、Teams 等内容分阶段迁移至 Global 全球版。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两套环境的账号与数据彼此隔离，需逐项搬迁，与同一云内的迁移不同。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1417320"/>
            <a:ext cx="5425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迁移目标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810512"/>
            <a:ext cx="2575408" cy="932688"/>
          </a:xfrm>
          <a:prstGeom prst="roundRect">
            <a:avLst>
              <a:gd name="adj" fmla="val 5882"/>
            </a:avLst>
          </a:prstGeom>
          <a:solidFill>
            <a:srgbClr val="EEF6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291072" y="1993392"/>
            <a:ext cx="91440" cy="5669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92240" y="1938528"/>
            <a:ext cx="2118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数据一致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267712"/>
            <a:ext cx="2072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邮箱、OneDrive、SharePoint 按数量与容量核对，可逐项比对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76208" y="1810512"/>
            <a:ext cx="2575408" cy="932688"/>
          </a:xfrm>
          <a:prstGeom prst="roundRect">
            <a:avLst>
              <a:gd name="adj" fmla="val 5882"/>
            </a:avLst>
          </a:prstGeom>
          <a:solidFill>
            <a:srgbClr val="EEF6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9140800" y="1993392"/>
            <a:ext cx="91440" cy="56692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341968" y="1938528"/>
            <a:ext cx="2118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安全可控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41968" y="2267712"/>
            <a:ext cx="2072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源环境完整保留，分阶段推进、每步可验证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889504"/>
            <a:ext cx="2575408" cy="932688"/>
          </a:xfrm>
          <a:prstGeom prst="roundRect">
            <a:avLst>
              <a:gd name="adj" fmla="val 5882"/>
            </a:avLst>
          </a:prstGeom>
          <a:solidFill>
            <a:srgbClr val="EEF6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291072" y="3072384"/>
            <a:ext cx="91440" cy="5669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92240" y="3017520"/>
            <a:ext cx="2118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可回切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346704"/>
            <a:ext cx="2072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保留回切余地，异常可退回原环境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76208" y="2889504"/>
            <a:ext cx="2575408" cy="932688"/>
          </a:xfrm>
          <a:prstGeom prst="roundRect">
            <a:avLst>
              <a:gd name="adj" fmla="val 5882"/>
            </a:avLst>
          </a:prstGeom>
          <a:solidFill>
            <a:srgbClr val="EEF6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140800" y="3072384"/>
            <a:ext cx="91440" cy="5669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341968" y="3017520"/>
            <a:ext cx="2118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信息同步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41968" y="3346704"/>
            <a:ext cx="2072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每阶段提供进度、风险与配合清单，设例会与状态看板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10911535" cy="18288"/>
          </a:xfrm>
          <a:prstGeom prst="rect">
            <a:avLst/>
          </a:prstGeom>
          <a:solidFill>
            <a:srgbClr val="E1DF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对账范围说明：</a:t>
            </a: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“数量与容量一致”指邮箱、OneDrive、SharePoint Online 的文件与邮件按数量、字节核对；Teams 聊天、版本历史、回收站等按保留策略迁移，存在合理差异。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　迁移方案与原则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整体架构与参与角色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21V 与 Global 之间没有直接通道，由一台迁移服务器同时连通两端，逐项读取源数据并写入目标租户。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D83B0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源端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15688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迁移桥接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91295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目标端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世纪互联 21V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86384" y="2752344"/>
            <a:ext cx="226771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input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62072"/>
            <a:ext cx="365760" cy="365760"/>
          </a:xfrm>
          <a:prstGeom prst="rect">
            <a:avLst/>
          </a:prstGeom>
        </p:spPr>
      </p:pic>
      <p:pic>
        <p:nvPicPr>
          <p:cNvPr id="12" name="Image 1" descr="input/OneDr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862072"/>
            <a:ext cx="365760" cy="365760"/>
          </a:xfrm>
          <a:prstGeom prst="rect">
            <a:avLst/>
          </a:prstGeom>
        </p:spPr>
      </p:pic>
      <p:pic>
        <p:nvPicPr>
          <p:cNvPr id="13" name="Image 2" descr="input/SharePo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2862072"/>
            <a:ext cx="365760" cy="365760"/>
          </a:xfrm>
          <a:prstGeom prst="rect">
            <a:avLst/>
          </a:prstGeom>
        </p:spPr>
      </p:pic>
      <p:pic>
        <p:nvPicPr>
          <p:cNvPr id="14" name="Image 3" descr="input/Tea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0" y="2862072"/>
            <a:ext cx="365760" cy="365760"/>
          </a:xfrm>
          <a:prstGeom prst="rect">
            <a:avLst/>
          </a:prstGeom>
        </p:spPr>
      </p:pic>
      <p:pic>
        <p:nvPicPr>
          <p:cNvPr id="15" name="Image 4" descr="input/Entr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2862072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3D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邮箱 · 文件 · 站点 · 团队 · 身份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815688" y="214884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1"/>
          <p:cNvSpPr/>
          <p:nvPr/>
        </p:nvSpPr>
        <p:spPr>
          <a:xfrm>
            <a:off x="4952848" y="23500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迁移服务器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4952848" y="286207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本地服务器 或 云端 VM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承载迁移服务，双向连通两端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991295" y="214884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4"/>
          <p:cNvSpPr/>
          <p:nvPr/>
        </p:nvSpPr>
        <p:spPr>
          <a:xfrm>
            <a:off x="9128455" y="23500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Global 全球版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9128455" y="286207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8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目标侧由同类服务接收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8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邮箱 / 文件 / 站点 / 团队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273552" y="2670048"/>
            <a:ext cx="1468984" cy="512064"/>
          </a:xfrm>
          <a:prstGeom prst="rightArrow">
            <a:avLst/>
          </a:prstGeom>
          <a:solidFill>
            <a:srgbClr val="8AB4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7"/>
          <p:cNvSpPr/>
          <p:nvPr/>
        </p:nvSpPr>
        <p:spPr>
          <a:xfrm>
            <a:off x="7449160" y="2670048"/>
            <a:ext cx="1468984" cy="512064"/>
          </a:xfrm>
          <a:prstGeom prst="rightArrow">
            <a:avLst/>
          </a:prstGeom>
          <a:solidFill>
            <a:srgbClr val="8AB4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8"/>
          <p:cNvSpPr/>
          <p:nvPr/>
        </p:nvSpPr>
        <p:spPr>
          <a:xfrm>
            <a:off x="3889172" y="2779776"/>
            <a:ext cx="2377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9"/>
          <p:cNvSpPr/>
          <p:nvPr/>
        </p:nvSpPr>
        <p:spPr>
          <a:xfrm>
            <a:off x="3934892" y="2862072"/>
            <a:ext cx="146304" cy="0"/>
          </a:xfrm>
          <a:prstGeom prst="line">
            <a:avLst/>
          </a:prstGeom>
          <a:noFill/>
          <a:ln w="9525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0"/>
          <p:cNvSpPr/>
          <p:nvPr/>
        </p:nvSpPr>
        <p:spPr>
          <a:xfrm>
            <a:off x="3934892" y="2926080"/>
            <a:ext cx="146304" cy="0"/>
          </a:xfrm>
          <a:prstGeom prst="line">
            <a:avLst/>
          </a:prstGeom>
          <a:noFill/>
          <a:ln w="9525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1"/>
          <p:cNvSpPr/>
          <p:nvPr/>
        </p:nvSpPr>
        <p:spPr>
          <a:xfrm>
            <a:off x="3934892" y="2990088"/>
            <a:ext cx="146304" cy="0"/>
          </a:xfrm>
          <a:prstGeom prst="line">
            <a:avLst/>
          </a:prstGeom>
          <a:noFill/>
          <a:ln w="9525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2"/>
          <p:cNvSpPr/>
          <p:nvPr/>
        </p:nvSpPr>
        <p:spPr>
          <a:xfrm>
            <a:off x="8064779" y="2779776"/>
            <a:ext cx="2377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3"/>
          <p:cNvSpPr/>
          <p:nvPr/>
        </p:nvSpPr>
        <p:spPr>
          <a:xfrm>
            <a:off x="8110499" y="2862072"/>
            <a:ext cx="146304" cy="0"/>
          </a:xfrm>
          <a:prstGeom prst="line">
            <a:avLst/>
          </a:prstGeom>
          <a:noFill/>
          <a:ln w="9525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4"/>
          <p:cNvSpPr/>
          <p:nvPr/>
        </p:nvSpPr>
        <p:spPr>
          <a:xfrm>
            <a:off x="8110499" y="2926080"/>
            <a:ext cx="146304" cy="0"/>
          </a:xfrm>
          <a:prstGeom prst="line">
            <a:avLst/>
          </a:prstGeom>
          <a:noFill/>
          <a:ln w="9525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5"/>
          <p:cNvSpPr/>
          <p:nvPr/>
        </p:nvSpPr>
        <p:spPr>
          <a:xfrm>
            <a:off x="8110499" y="2990088"/>
            <a:ext cx="146304" cy="0"/>
          </a:xfrm>
          <a:prstGeom prst="line">
            <a:avLst/>
          </a:prstGeom>
          <a:noFill/>
          <a:ln w="9525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6"/>
          <p:cNvSpPr/>
          <p:nvPr/>
        </p:nvSpPr>
        <p:spPr>
          <a:xfrm>
            <a:off x="3182112" y="2286000"/>
            <a:ext cx="1651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读取源数据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7357720" y="2286000"/>
            <a:ext cx="1651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写入目标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640080" y="4160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参与角色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2194560" y="4160520"/>
            <a:ext cx="1578803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0"/>
          <p:cNvSpPr/>
          <p:nvPr/>
        </p:nvSpPr>
        <p:spPr>
          <a:xfrm>
            <a:off x="2240280" y="4160520"/>
            <a:ext cx="148736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微软迁移团队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4139123" y="4160520"/>
            <a:ext cx="1578803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2"/>
          <p:cNvSpPr/>
          <p:nvPr/>
        </p:nvSpPr>
        <p:spPr>
          <a:xfrm>
            <a:off x="4184843" y="4160520"/>
            <a:ext cx="148736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客户 IT 管理员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6083686" y="4160520"/>
            <a:ext cx="1578803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4"/>
          <p:cNvSpPr/>
          <p:nvPr/>
        </p:nvSpPr>
        <p:spPr>
          <a:xfrm>
            <a:off x="6129406" y="4160520"/>
            <a:ext cx="148736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网络管理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8028249" y="4160520"/>
            <a:ext cx="1578803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D83B0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6"/>
          <p:cNvSpPr/>
          <p:nvPr/>
        </p:nvSpPr>
        <p:spPr>
          <a:xfrm>
            <a:off x="8073969" y="4160520"/>
            <a:ext cx="148736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各业务部门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9972812" y="4160520"/>
            <a:ext cx="1578803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8"/>
          <p:cNvSpPr/>
          <p:nvPr/>
        </p:nvSpPr>
        <p:spPr>
          <a:xfrm>
            <a:off x="10018532" y="4160520"/>
            <a:ext cx="148736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桌面 / 终端支持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640080" y="4892040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0"/>
          <p:cNvSpPr/>
          <p:nvPr/>
        </p:nvSpPr>
        <p:spPr>
          <a:xfrm>
            <a:off x="640080" y="4892040"/>
            <a:ext cx="91440" cy="5669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1"/>
          <p:cNvSpPr/>
          <p:nvPr/>
        </p:nvSpPr>
        <p:spPr>
          <a:xfrm>
            <a:off x="914400" y="4892040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关于迁移服务器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可部署在客户本地或云端 VM，按数据量与并发配 1–3 台，迁移完成即回收。迁移服务器仅作数据通道，内容不在本地留存（如需暂存则加密、完成即清）；迁移账号权限按最小化授予、全程操作留痕，项目结束即吊销。迁移期间不改动用户日常环境。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　迁移方案与原则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迁移方法：预迁移存量 + 切换前增量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658368"/>
          </a:xfrm>
          <a:prstGeom prst="roundRect">
            <a:avLst>
              <a:gd name="adj" fmla="val 6944"/>
            </a:avLst>
          </a:prstGeom>
          <a:solidFill>
            <a:srgbClr val="EAF6EE"/>
          </a:solidFill>
          <a:ln w="12700">
            <a:solidFill>
              <a:srgbClr val="BFE3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4543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总体思路　</a:t>
            </a: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采用「预迁移存量 + 切换前增量」的方式：历史数据提前分批搬迁并逐项核对，正式切换时只补最后一次增量（delta）并验证，避免一次性大切换，尽量减少对业务的影响。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3454298" cy="1874520"/>
          </a:xfrm>
          <a:prstGeom prst="roundRect">
            <a:avLst>
              <a:gd name="adj" fmla="val 2927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41248" y="2633472"/>
            <a:ext cx="30519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　预迁移存量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3108960"/>
            <a:ext cx="301538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提前分批搬迁历史邮件、文件与站点内容，在目标侧逐项核对（数量 / 容量）。源环境照常使用，不影响日常业务。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40098" y="3241548"/>
            <a:ext cx="182880" cy="182880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368698" y="2395728"/>
            <a:ext cx="3454298" cy="1874520"/>
          </a:xfrm>
          <a:prstGeom prst="roundRect">
            <a:avLst>
              <a:gd name="adj" fmla="val 2927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68698" y="2395728"/>
            <a:ext cx="3454298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69866" y="2633472"/>
            <a:ext cx="30519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　切换前增量（delta）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8154" y="3108960"/>
            <a:ext cx="301538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切换窗口内只搬迁自上次预迁移后新增 / 变更的少量数据，时间短、范围小、可控。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8717" y="3241548"/>
            <a:ext cx="182880" cy="182880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097317" y="2395728"/>
            <a:ext cx="3454298" cy="1874520"/>
          </a:xfrm>
          <a:prstGeom prst="roundRect">
            <a:avLst>
              <a:gd name="adj" fmla="val 2927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097317" y="2395728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298485" y="2633472"/>
            <a:ext cx="30519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　切换与验证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16773" y="3108960"/>
            <a:ext cx="301538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完成域名与解析切换，各角色按清单验证收发、访问与权限，确认无误后进入 Hypercare。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迁移原则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2453564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5800" y="4892040"/>
            <a:ext cx="2362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数据一致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59404" y="4892040"/>
            <a:ext cx="2453564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505124" y="4892040"/>
            <a:ext cx="2362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安全可控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2453564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324448" y="4892040"/>
            <a:ext cx="2362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可回切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98051" y="4892040"/>
            <a:ext cx="2453564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143771" y="4892040"/>
            <a:ext cx="2362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信息同步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532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方法说明：存量提前预迁、增量最后补齐，迁移期间源环境照常使用，并保留回切能力。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78D4"/>
                </a:solidFill>
                <a:latin typeface="Segoe UI"/>
                <a:ea typeface="Segoe UI"/>
              </a:rPr>
              <a:t>02　迁移方案与原则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3864"/>
                </a:solidFill>
                <a:latin typeface="Segoe UI Semibold"/>
                <a:ea typeface="Segoe UI Semibold"/>
              </a:rPr>
              <a:t>客户配合事项总表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solidFill>
            <a:srgbClr val="EE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4543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078D4"/>
                </a:solidFill>
                <a:latin typeface="Segoe UI"/>
                <a:ea typeface="Segoe UI"/>
              </a:rPr>
              <a:t>迁移由双方协作完成。下表按阶段列出需客户侧投入的关键动作、责任部门与预计投入，便于提前协调与立项。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11535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148840"/>
            <a:ext cx="159105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2" y="214884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客户侧关键动作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4884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责任部门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42032"/>
            <a:ext cx="10911535" cy="713232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542032"/>
            <a:ext cx="159105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3864"/>
                </a:solidFill>
                <a:latin typeface="Segoe UI"/>
                <a:ea typeface="Segoe UI"/>
              </a:rPr>
              <a:t>① 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2542032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201F1E"/>
                </a:solidFill>
                <a:latin typeface="Segoe UI"/>
                <a:ea typeface="Segoe UI"/>
              </a:rPr>
              <a:t>提供两端全局管理员账号；整理用户名单与源→目标对应；确认域名解析管理权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42032"/>
            <a:ext cx="3200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201F1E"/>
                </a:solidFill>
                <a:latin typeface="Segoe UI"/>
                <a:ea typeface="Segoe UI"/>
              </a:rPr>
              <a:t>IT 管理员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55263"/>
            <a:ext cx="10911535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55263"/>
            <a:ext cx="159105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3864"/>
                </a:solidFill>
                <a:latin typeface="Segoe UI"/>
                <a:ea typeface="Segoe UI"/>
              </a:rPr>
              <a:t>② 环境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3255263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201F1E"/>
                </a:solidFill>
                <a:latin typeface="Segoe UI"/>
                <a:ea typeface="Segoe UI"/>
              </a:rPr>
              <a:t>提供迁移服务器（本地机或云 VM）；防火墙放通、保障带宽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55263"/>
            <a:ext cx="3200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201F1E"/>
                </a:solidFill>
                <a:latin typeface="Segoe UI"/>
                <a:ea typeface="Segoe UI"/>
              </a:rPr>
              <a:t>IT / 网络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68496"/>
            <a:ext cx="10911535" cy="713232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68496"/>
            <a:ext cx="159105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3864"/>
                </a:solidFill>
                <a:latin typeface="Segoe UI"/>
                <a:ea typeface="Segoe UI"/>
              </a:rPr>
              <a:t>③ 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2" y="3968496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201F1E"/>
                </a:solidFill>
                <a:latin typeface="Segoe UI"/>
                <a:ea typeface="Segoe UI"/>
              </a:rPr>
              <a:t>各业务部门指定验证代表；确认验证名单与样本站点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968496"/>
            <a:ext cx="3200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201F1E"/>
                </a:solidFill>
                <a:latin typeface="Segoe UI"/>
                <a:ea typeface="Segoe UI"/>
              </a:rPr>
              <a:t>各业务部门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681728"/>
            <a:ext cx="10911535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681728"/>
            <a:ext cx="159105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3864"/>
                </a:solidFill>
                <a:latin typeface="Segoe UI"/>
                <a:ea typeface="Segoe UI"/>
              </a:rPr>
              <a:t>④ 切换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0592" y="4681728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201F1E"/>
                </a:solidFill>
                <a:latin typeface="Segoe UI"/>
                <a:ea typeface="Segoe UI"/>
              </a:rPr>
              <a:t>审批统一停用窗口（周末/夜间）；向用户发布迁移须知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681728"/>
            <a:ext cx="3200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201F1E"/>
                </a:solidFill>
                <a:latin typeface="Segoe UI"/>
                <a:ea typeface="Segoe UI"/>
              </a:rPr>
              <a:t>IT + 业务负责人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94960"/>
            <a:ext cx="10911535" cy="713232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394960"/>
            <a:ext cx="159105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3864"/>
                </a:solidFill>
                <a:latin typeface="Segoe UI"/>
                <a:ea typeface="Segoe UI"/>
              </a:rPr>
              <a:t>⑤ 验收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50592" y="5394960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201F1E"/>
                </a:solidFill>
                <a:latin typeface="Segoe UI"/>
                <a:ea typeface="Segoe UI"/>
              </a:rPr>
              <a:t>按清单逐项验证并签字确认；桌面支持协助用户重登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394960"/>
            <a:ext cx="3200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201F1E"/>
                </a:solidFill>
                <a:latin typeface="Segoe UI"/>
                <a:ea typeface="Segoe UI"/>
              </a:rPr>
              <a:t>IT / 桌面支持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A19F9D"/>
                </a:solidFill>
                <a:latin typeface="Segoe UI"/>
                <a:ea typeface="Segoe UI"/>
              </a:rPr>
              <a:t>Microsoft 365 迁移方案  |  世纪互联（21Vianet）→ Global 全球版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A19F9D"/>
                </a:solidFill>
                <a:latin typeface="Segoe UI"/>
                <a:ea typeface="Segoe UI"/>
              </a:rPr>
              <a:t>Microsoft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A19F9D"/>
                </a:solidFill>
                <a:latin typeface="Segoe UI"/>
                <a:ea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　迁移内容与规模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迁移产品与数据规模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61872"/>
            <a:ext cx="109115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下方按产品列出迁移内容与核心指标；SharePoint Online 为本次迁移重点，单独细列各组件规模。指标待信息了解表回收后补全。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2556434" cy="1737360"/>
          </a:xfrm>
          <a:prstGeom prst="roundRect">
            <a:avLst>
              <a:gd name="adj" fmla="val 368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556434" cy="8229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input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87" y="18288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3799" y="1828800"/>
            <a:ext cx="13227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Exchange Online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01463" y="2322576"/>
            <a:ext cx="15422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用户邮箱数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01463" y="2505456"/>
            <a:ext cx="163366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01463" y="2779776"/>
            <a:ext cx="15422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邮箱总容量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01463" y="2962656"/>
            <a:ext cx="163366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25114" y="1664208"/>
            <a:ext cx="2556434" cy="1737360"/>
          </a:xfrm>
          <a:prstGeom prst="roundRect">
            <a:avLst>
              <a:gd name="adj" fmla="val 368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425114" y="1664208"/>
            <a:ext cx="2556434" cy="82296"/>
          </a:xfrm>
          <a:prstGeom prst="rect">
            <a:avLst/>
          </a:prstGeom>
          <a:solidFill>
            <a:srgbClr val="0364B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input/OneDr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921" y="182880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88833" y="1828800"/>
            <a:ext cx="13227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OneDrive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886497" y="2322576"/>
            <a:ext cx="15422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用户数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886497" y="2505456"/>
            <a:ext cx="163366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886497" y="2779776"/>
            <a:ext cx="15422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文件总容量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886497" y="2962656"/>
            <a:ext cx="163366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210148" y="1664208"/>
            <a:ext cx="2556434" cy="1737360"/>
          </a:xfrm>
          <a:prstGeom prst="roundRect">
            <a:avLst>
              <a:gd name="adj" fmla="val 368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6210148" y="1664208"/>
            <a:ext cx="2556434" cy="8229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3" descr="input/Tea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955" y="1828800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73867" y="1828800"/>
            <a:ext cx="13227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Teams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671531" y="2322576"/>
            <a:ext cx="15422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团队数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671531" y="2505456"/>
            <a:ext cx="163366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6671531" y="2779776"/>
            <a:ext cx="15422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频道数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671531" y="2962656"/>
            <a:ext cx="163366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8995182" y="1664208"/>
            <a:ext cx="2556434" cy="1737360"/>
          </a:xfrm>
          <a:prstGeom prst="roundRect">
            <a:avLst>
              <a:gd name="adj" fmla="val 368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2"/>
          <p:cNvSpPr/>
          <p:nvPr/>
        </p:nvSpPr>
        <p:spPr>
          <a:xfrm>
            <a:off x="8995182" y="1664208"/>
            <a:ext cx="2556434" cy="82296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4" descr="input/Ent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9989" y="1828800"/>
            <a:ext cx="384048" cy="38404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858901" y="1828800"/>
            <a:ext cx="13227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Entra ID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9456565" y="2322576"/>
            <a:ext cx="15422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用户账号数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9456565" y="2505456"/>
            <a:ext cx="163366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250" dirty="0"/>
          </a:p>
        </p:txBody>
      </p:sp>
      <p:sp>
        <p:nvSpPr>
          <p:cNvPr id="43" name="Text 36"/>
          <p:cNvSpPr/>
          <p:nvPr/>
        </p:nvSpPr>
        <p:spPr>
          <a:xfrm>
            <a:off x="9456565" y="2779776"/>
            <a:ext cx="15422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组数量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9456565" y="2962656"/>
            <a:ext cx="163366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250" dirty="0"/>
          </a:p>
        </p:txBody>
      </p:sp>
      <p:sp>
        <p:nvSpPr>
          <p:cNvPr id="45" name="Shape 38"/>
          <p:cNvSpPr/>
          <p:nvPr/>
        </p:nvSpPr>
        <p:spPr>
          <a:xfrm>
            <a:off x="640080" y="3639312"/>
            <a:ext cx="10911535" cy="420624"/>
          </a:xfrm>
          <a:prstGeom prst="roundRect">
            <a:avLst>
              <a:gd name="adj" fmla="val 1087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5" descr="input/SharePo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3685032"/>
            <a:ext cx="329184" cy="32918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188720" y="3639312"/>
            <a:ext cx="101800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 Online </a:t>
            </a: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迁移规模（重点产品）</a:t>
            </a: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　</a:t>
            </a:r>
            <a:r>
              <a:rPr lang="en-US" sz="1050">
                <a:solidFill>
                  <a:srgbClr val="BBD7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按站点结构、文档库、列表、页面与权限分别统计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640080" y="4169664"/>
            <a:ext cx="1999427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1"/>
          <p:cNvSpPr/>
          <p:nvPr/>
        </p:nvSpPr>
        <p:spPr>
          <a:xfrm>
            <a:off x="640080" y="4169664"/>
            <a:ext cx="1999427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2"/>
          <p:cNvSpPr/>
          <p:nvPr/>
        </p:nvSpPr>
        <p:spPr>
          <a:xfrm>
            <a:off x="731520" y="4370832"/>
            <a:ext cx="181654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900" dirty="0"/>
          </a:p>
        </p:txBody>
      </p:sp>
      <p:sp>
        <p:nvSpPr>
          <p:cNvPr id="51" name="Text 43"/>
          <p:cNvSpPr/>
          <p:nvPr/>
        </p:nvSpPr>
        <p:spPr>
          <a:xfrm>
            <a:off x="731520" y="4791456"/>
            <a:ext cx="18165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站点数量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2868107" y="4169664"/>
            <a:ext cx="1999427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5"/>
          <p:cNvSpPr/>
          <p:nvPr/>
        </p:nvSpPr>
        <p:spPr>
          <a:xfrm>
            <a:off x="2868107" y="4169664"/>
            <a:ext cx="1999427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6"/>
          <p:cNvSpPr/>
          <p:nvPr/>
        </p:nvSpPr>
        <p:spPr>
          <a:xfrm>
            <a:off x="2959547" y="4370832"/>
            <a:ext cx="181654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900" dirty="0"/>
          </a:p>
        </p:txBody>
      </p:sp>
      <p:sp>
        <p:nvSpPr>
          <p:cNvPr id="55" name="Text 47"/>
          <p:cNvSpPr/>
          <p:nvPr/>
        </p:nvSpPr>
        <p:spPr>
          <a:xfrm>
            <a:off x="2959547" y="4791456"/>
            <a:ext cx="18165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文档库容量(TB)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5096134" y="4169664"/>
            <a:ext cx="1999427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49"/>
          <p:cNvSpPr/>
          <p:nvPr/>
        </p:nvSpPr>
        <p:spPr>
          <a:xfrm>
            <a:off x="5096134" y="4169664"/>
            <a:ext cx="1999427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0"/>
          <p:cNvSpPr/>
          <p:nvPr/>
        </p:nvSpPr>
        <p:spPr>
          <a:xfrm>
            <a:off x="5187574" y="4370832"/>
            <a:ext cx="181654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900" dirty="0"/>
          </a:p>
        </p:txBody>
      </p:sp>
      <p:sp>
        <p:nvSpPr>
          <p:cNvPr id="59" name="Text 51"/>
          <p:cNvSpPr/>
          <p:nvPr/>
        </p:nvSpPr>
        <p:spPr>
          <a:xfrm>
            <a:off x="5187574" y="4791456"/>
            <a:ext cx="18165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列表数</a:t>
            </a:r>
            <a:endParaRPr lang="en-US" sz="1050" dirty="0"/>
          </a:p>
        </p:txBody>
      </p:sp>
      <p:sp>
        <p:nvSpPr>
          <p:cNvPr id="60" name="Shape 52"/>
          <p:cNvSpPr/>
          <p:nvPr/>
        </p:nvSpPr>
        <p:spPr>
          <a:xfrm>
            <a:off x="7324161" y="4169664"/>
            <a:ext cx="1999427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3"/>
          <p:cNvSpPr/>
          <p:nvPr/>
        </p:nvSpPr>
        <p:spPr>
          <a:xfrm>
            <a:off x="7324161" y="4169664"/>
            <a:ext cx="1999427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54"/>
          <p:cNvSpPr/>
          <p:nvPr/>
        </p:nvSpPr>
        <p:spPr>
          <a:xfrm>
            <a:off x="7415601" y="4370832"/>
            <a:ext cx="181654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900" dirty="0"/>
          </a:p>
        </p:txBody>
      </p:sp>
      <p:sp>
        <p:nvSpPr>
          <p:cNvPr id="63" name="Text 55"/>
          <p:cNvSpPr/>
          <p:nvPr/>
        </p:nvSpPr>
        <p:spPr>
          <a:xfrm>
            <a:off x="7415601" y="4791456"/>
            <a:ext cx="18165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网站页面数</a:t>
            </a:r>
            <a:endParaRPr lang="en-US" sz="1050" dirty="0"/>
          </a:p>
        </p:txBody>
      </p:sp>
      <p:sp>
        <p:nvSpPr>
          <p:cNvPr id="64" name="Shape 56"/>
          <p:cNvSpPr/>
          <p:nvPr/>
        </p:nvSpPr>
        <p:spPr>
          <a:xfrm>
            <a:off x="9552188" y="4169664"/>
            <a:ext cx="1999427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57"/>
          <p:cNvSpPr/>
          <p:nvPr/>
        </p:nvSpPr>
        <p:spPr>
          <a:xfrm>
            <a:off x="9552188" y="4169664"/>
            <a:ext cx="1999427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58"/>
          <p:cNvSpPr/>
          <p:nvPr/>
        </p:nvSpPr>
        <p:spPr>
          <a:xfrm>
            <a:off x="9643628" y="4370832"/>
            <a:ext cx="181654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待采集</a:t>
            </a:r>
            <a:endParaRPr lang="en-US" sz="1900" dirty="0"/>
          </a:p>
        </p:txBody>
      </p:sp>
      <p:sp>
        <p:nvSpPr>
          <p:cNvPr id="67" name="Text 59"/>
          <p:cNvSpPr/>
          <p:nvPr/>
        </p:nvSpPr>
        <p:spPr>
          <a:xfrm>
            <a:off x="9643628" y="4791456"/>
            <a:ext cx="18165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权限 / 共享组</a:t>
            </a:r>
            <a:endParaRPr lang="en-US" sz="1050" dirty="0"/>
          </a:p>
        </p:txBody>
      </p:sp>
      <p:sp>
        <p:nvSpPr>
          <p:cNvPr id="68" name="Shape 60"/>
          <p:cNvSpPr/>
          <p:nvPr/>
        </p:nvSpPr>
        <p:spPr>
          <a:xfrm>
            <a:off x="640080" y="5285232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1"/>
          <p:cNvSpPr/>
          <p:nvPr/>
        </p:nvSpPr>
        <p:spPr>
          <a:xfrm>
            <a:off x="640080" y="5285232"/>
            <a:ext cx="91440" cy="5669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2"/>
          <p:cNvSpPr/>
          <p:nvPr/>
        </p:nvSpPr>
        <p:spPr>
          <a:xfrm>
            <a:off x="914400" y="5285232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 说明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目标侧账号为新建 / 预置，并非逐条复制；MFA、条件访问与应用注册需在 Global 重新配置。数据指标在《M365 迁移信息了解表》回收后补全。</a:t>
            </a:r>
            <a:endParaRPr lang="en-US" sz="1200" dirty="0"/>
          </a:p>
        </p:txBody>
      </p:sp>
      <p:sp>
        <p:nvSpPr>
          <p:cNvPr id="71" name="Text 63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72" name="Text 64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73" name="Text 65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　迁移限制与用户影响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迁移限制与特殊处理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25296"/>
            <a:ext cx="109115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跨云迁移有其边界，以下内容需提前沟通预期：部分需重新配置、部分无法直接迁移、用户需重新登录设置、部分需特殊处理。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22144" cy="3108960"/>
          </a:xfrm>
          <a:prstGeom prst="roundRect">
            <a:avLst>
              <a:gd name="adj" fmla="val 217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22144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需重新配置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213809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Automate / Power Apps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应用注册 / 单点登录（SSO）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条件访问与安全策略、MFA 注册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第三方集成、API 与密钥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邮件流 / 自动发信系统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36544" y="1828800"/>
            <a:ext cx="2522144" cy="3108960"/>
          </a:xfrm>
          <a:prstGeom prst="roundRect">
            <a:avLst>
              <a:gd name="adj" fmla="val 217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436544" y="1828800"/>
            <a:ext cx="2522144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619424" y="20116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无法直接迁移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37712" y="2468880"/>
            <a:ext cx="213809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Stream（经典版）视频（源端如有）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/ Viva Engage 历史（源端如有）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超出保留期的回收站 / 可恢复项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SPFx 自定义脚本与解决方案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工作流运行历史 / 审计日志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3008" y="1828800"/>
            <a:ext cx="2522144" cy="3108960"/>
          </a:xfrm>
          <a:prstGeom prst="roundRect">
            <a:avLst>
              <a:gd name="adj" fmla="val 217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33008" y="1828800"/>
            <a:ext cx="2522144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15888" y="20116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用户需重新操作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34176" y="2468880"/>
            <a:ext cx="213809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各客户端重新登录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（Outlook / Teams / OneDrive）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手机端重新配置账号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签名 / 规则 / 收藏按需重设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重新接受会议与共享邀请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桌面支持协助统一指引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29471" y="1828800"/>
            <a:ext cx="2522144" cy="3108960"/>
          </a:xfrm>
          <a:prstGeom prst="roundRect">
            <a:avLst>
              <a:gd name="adj" fmla="val 217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029471" y="1828800"/>
            <a:ext cx="2522144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212351" y="20116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需特殊处理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30639" y="2468880"/>
            <a:ext cx="213809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加密 / 敏感度标签内容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公用文件夹（Public Folders）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委派与文件夹级权限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外部共享链接重配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大容量邮箱 / 站点单独排期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5138928"/>
            <a:ext cx="10911535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5138928"/>
            <a:ext cx="91440" cy="640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4400" y="5138928"/>
            <a:ext cx="10454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说明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以上是跨云迁移本身的限制，不是方案缺陷：能直接搬的原样迁移，搬不了的在新环境重新建好或重新配置，切换前与各业务部门逐项核对。对用户来说，主要影响就是切换后重新登录一次。Teams 的聊天和频道历史可以迁到新环境正常查看，但谁@了谁、表情符号、个别复杂排版可能显示不全，具体迁到什么程度按你们的要求和时间安排来定。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　迁移限制与用户影响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用户影响与配合事项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迁移对用户的主要影响是：统一身份只需重新登录一次，另需按指引重建少量本地设置（如签名、规则、文件同步）。下面按四个方面说明用户侧要做什么。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22144" cy="3017520"/>
          </a:xfrm>
          <a:prstGeom prst="roundRect">
            <a:avLst>
              <a:gd name="adj" fmla="val 217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22144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登录与身份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213809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切换后各客户端需重新登录一次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重新完成 MFA 注册（如短信 / 验证器）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 业务系统按新身份重新授权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36544" y="1828800"/>
            <a:ext cx="2522144" cy="3017520"/>
          </a:xfrm>
          <a:prstGeom prst="roundRect">
            <a:avLst>
              <a:gd name="adj" fmla="val 217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436544" y="1828800"/>
            <a:ext cx="2522144" cy="914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619424" y="20116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邮箱与日历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37712" y="2468880"/>
            <a:ext cx="213809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 重新建立配置文件（OST 重建）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签名 / 规则 / 收藏夹按需重设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跨租户忙闲（Free/Busy）过渡期可能中断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008" y="1828800"/>
            <a:ext cx="2522144" cy="3017520"/>
          </a:xfrm>
          <a:prstGeom prst="roundRect">
            <a:avLst>
              <a:gd name="adj" fmla="val 217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33008" y="1828800"/>
            <a:ext cx="2522144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15888" y="20116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文件与协作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34176" y="2468880"/>
            <a:ext cx="213809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重新同步、快捷方式重建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原共享链接 / 收藏失效，需重新获取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清缓存重登录，重建团队收藏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29471" y="1828800"/>
            <a:ext cx="2522144" cy="3017520"/>
          </a:xfrm>
          <a:prstGeom prst="roundRect">
            <a:avLst>
              <a:gd name="adj" fmla="val 217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029471" y="1828800"/>
            <a:ext cx="2522144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212351" y="20116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跨租户过渡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30639" y="2468880"/>
            <a:ext cx="213809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过渡期发往本域名邮件由 MX 暂存重投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会议链接更新，重要会议建议重发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桌面 / 终端支持提供统一操作指引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91440" cy="5669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配合要点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建议提前向用户发布《迁移须知与操作指引》，切换当天安排桌面支持值守集中答疑；重要业务用户与会议室邮箱单独提示。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　迁移步骤总览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总览：准备 · 验证 · 迁移 · 复核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迁移分为四个阶段，按下列顺序推进；后续各页分别展开每一阶段的具体动作。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22144" cy="3154680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22144" cy="109728"/>
          </a:xfrm>
          <a:prstGeom prst="round2SameRect">
            <a:avLst>
              <a:gd name="adj1" fmla="val 44000"/>
              <a:gd name="adj2" fmla="val 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41248" y="219456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212848"/>
            <a:ext cx="1607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准备工作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77824" y="2944368"/>
            <a:ext cx="208323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账号与权限就位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搭建迁移环境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网络与带宽放通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与许可预置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80512" y="3378708"/>
            <a:ext cx="237744" cy="237744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436544" y="1920240"/>
            <a:ext cx="2522144" cy="3154680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436544" y="1920240"/>
            <a:ext cx="2522144" cy="109728"/>
          </a:xfrm>
          <a:prstGeom prst="round2SameRect">
            <a:avLst>
              <a:gd name="adj1" fmla="val 44000"/>
              <a:gd name="adj2" fmla="val 0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637712" y="2194560"/>
            <a:ext cx="548640" cy="548640"/>
          </a:xfrm>
          <a:prstGeom prst="ellipse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637712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59504" y="2212848"/>
            <a:ext cx="1607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迁移前测试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674288" y="2944368"/>
            <a:ext cx="208323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选取部分用户与站点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功能验证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临时域名访问验证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确认流程无误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76976" y="3378708"/>
            <a:ext cx="237744" cy="237744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233008" y="1920240"/>
            <a:ext cx="2522144" cy="3154680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33008" y="1920240"/>
            <a:ext cx="2522144" cy="109728"/>
          </a:xfrm>
          <a:prstGeom prst="round2SameRect">
            <a:avLst>
              <a:gd name="adj1" fmla="val 44000"/>
              <a:gd name="adj2" fmla="val 0"/>
            </a:avLst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434176" y="2194560"/>
            <a:ext cx="548640" cy="548640"/>
          </a:xfrm>
          <a:prstGeom prst="ellipse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34176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55968" y="2212848"/>
            <a:ext cx="1607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正式迁移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70752" y="2944368"/>
            <a:ext cx="208323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按产品顺序迁移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 分步迁移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域名切换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切换前增量同步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73439" y="3378708"/>
            <a:ext cx="237744" cy="237744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029471" y="1920240"/>
            <a:ext cx="2522144" cy="3154680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9029471" y="1920240"/>
            <a:ext cx="2522144" cy="109728"/>
          </a:xfrm>
          <a:prstGeom prst="round2SameRect">
            <a:avLst>
              <a:gd name="adj1" fmla="val 44000"/>
              <a:gd name="adj2" fmla="val 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230639" y="219456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230639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852431" y="2212848"/>
            <a:ext cx="1607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迁移后验证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267215" y="2944368"/>
            <a:ext cx="208323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各产品功能验证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数据条目对账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业务签字确认</a:t>
            </a:r>
            <a:endParaRPr lang="en-US" sz="1150" dirty="0"/>
          </a:p>
          <a:p>
            <a:pPr marL="139700" indent="-1397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进入 Hypercare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　步骤一 · 准备工作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迁移前需准备的事项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548640"/>
          </a:xfrm>
          <a:prstGeom prst="roundRect">
            <a:avLst>
              <a:gd name="adj" fmla="val 8333"/>
            </a:avLst>
          </a:prstGeom>
          <a:solidFill>
            <a:srgbClr val="EEF6FC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本步骤目标　</a:t>
            </a: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迁移启动前，由客户各部门分头配合，把账号、服务器、权限、域名、网络与验证团队按清单准备到位。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029968"/>
            <a:ext cx="3454298" cy="1325880"/>
          </a:xfrm>
          <a:prstGeom prst="roundRect">
            <a:avLst>
              <a:gd name="adj" fmla="val 4138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账号准备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2670048"/>
            <a:ext cx="307025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源、目标两租户的全局管理员账号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整理用户名单与源→目标账号对应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在目标租户预置用户账号、清理停用账号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8698" y="2029968"/>
            <a:ext cx="3454298" cy="1325880"/>
          </a:xfrm>
          <a:prstGeom prst="roundRect">
            <a:avLst>
              <a:gd name="adj" fmla="val 4138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368698" y="2029968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51578" y="221284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迁移服务器（虚拟机）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69866" y="2670048"/>
            <a:ext cx="307025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准备机房物理机或云端虚拟机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按数据量与并发预估 1–3 台规格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完成目标租户基础配置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97317" y="2029968"/>
            <a:ext cx="3454298" cy="1325880"/>
          </a:xfrm>
          <a:prstGeom prst="roundRect">
            <a:avLst>
              <a:gd name="adj" fmla="val 4138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097317" y="2029968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80197" y="221284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权限与授权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8485" y="2670048"/>
            <a:ext cx="307025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迁移服务专用账号及高权限授权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源、目标两侧所需的访问授权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为目标侧每位用户分配许可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483864"/>
            <a:ext cx="3454298" cy="1325880"/>
          </a:xfrm>
          <a:prstGeom prst="roundRect">
            <a:avLst>
              <a:gd name="adj" fmla="val 4138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3483864"/>
            <a:ext cx="3454298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2960" y="3666744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域名准备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" y="4123944"/>
            <a:ext cx="307025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整理域名清单并确认解析管理权限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提前调低域名解析缓存时间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预先配置邮件防伪认证记录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68698" y="3483864"/>
            <a:ext cx="3454298" cy="1325880"/>
          </a:xfrm>
          <a:prstGeom prst="roundRect">
            <a:avLst>
              <a:gd name="adj" fmla="val 4138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368698" y="3483864"/>
            <a:ext cx="3454298" cy="914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51578" y="3666744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网络与带宽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69866" y="4123944"/>
            <a:ext cx="307025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评估并保障迁移所需带宽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在防火墙放通迁移所需访问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预估文件重新同步占用的带宽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97317" y="3483864"/>
            <a:ext cx="3454298" cy="1325880"/>
          </a:xfrm>
          <a:prstGeom prst="roundRect">
            <a:avLst>
              <a:gd name="adj" fmla="val 4138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097317" y="3483864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80197" y="3666744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测试与验证团队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98485" y="4123944"/>
            <a:ext cx="307025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各业务部门指定验证代表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配合执行、数据核对与桌面支持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超大邮箱 / 站点单独排期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992624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术语说明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266944"/>
            <a:ext cx="10911535" cy="0"/>
          </a:xfrm>
          <a:prstGeom prst="line">
            <a:avLst/>
          </a:prstGeom>
          <a:noFill/>
          <a:ln w="9525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0080" y="5376672"/>
            <a:ext cx="52728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全局管理员：</a:t>
            </a: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租户最高权限账号，用于执行迁移配置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账号对应（UPN）：</a:t>
            </a: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用户登录名，如 name@公司.com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用户许可（授权）：</a:t>
            </a: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用户使用 M365 各服务的订阅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78728" y="5376672"/>
            <a:ext cx="52728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域名解析（DNS / TTL）：</a:t>
            </a: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域名指向服务的记录及其缓存时间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邮件防伪认证（SPF/DKIM/DMARC）：</a:t>
            </a: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证明发件来源真实，避免被判垃圾邮件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保留 / 诉讼保留：</a:t>
            </a: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按合规或法务要求长期留存邮件、文件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　步骤二 · 迁移前验证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部分用户与站点的功能验证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548640"/>
          </a:xfrm>
          <a:prstGeom prst="roundRect">
            <a:avLst>
              <a:gd name="adj" fmla="val 8333"/>
            </a:avLst>
          </a:prstGeom>
          <a:solidFill>
            <a:srgbClr val="EEF6FC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本步骤目标　</a:t>
            </a: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迁移一部分代表性用户与站点 / 文档库，进行功能验证，确认流程与效果无误。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54298" cy="2395728"/>
          </a:xfrm>
          <a:prstGeom prst="roundRect">
            <a:avLst>
              <a:gd name="adj" fmla="val 229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验证对象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2743200"/>
            <a:ext cx="307025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管理员 1–2 人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各主要业务部门代表 1–2 人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1–2 个代表性 SharePoint 站点 / 文档库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一个共享 / 会议室邮箱样本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68698" y="2103120"/>
            <a:ext cx="3454298" cy="2395728"/>
          </a:xfrm>
          <a:prstGeom prst="roundRect">
            <a:avLst>
              <a:gd name="adj" fmla="val 229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368698" y="2103120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51578" y="228600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验证内容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69866" y="2743200"/>
            <a:ext cx="307025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邮箱收发、规则与签名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/ 站点文件打开与编辑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团队、频道与文件协作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账号登录、权限与共享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7317" y="2103120"/>
            <a:ext cx="3454298" cy="2395728"/>
          </a:xfrm>
          <a:prstGeom prst="roundRect">
            <a:avLst>
              <a:gd name="adj" fmla="val 229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097317" y="2103120"/>
            <a:ext cx="3454298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80197" y="228600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如何访问验证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8485" y="2743200"/>
            <a:ext cx="307025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目标环境仅用临时域名访问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（如 xxx.onmicrosoft.com）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正式域名仍在源环境正常收发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验证不影响现网日常使用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测试用户在正式增量时做覆盖式刷新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91440" cy="5669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4400" y="4709160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部门配合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业务部门确认验证名单 · IT 配合执行与数据比对 · 桌面支持协助客户端在临时域名下重新登录与验证。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　步骤三 · 正式迁移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迁移顺序与切换前增量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548640"/>
          </a:xfrm>
          <a:prstGeom prst="roundRect">
            <a:avLst>
              <a:gd name="adj" fmla="val 8333"/>
            </a:avLst>
          </a:prstGeom>
          <a:solidFill>
            <a:srgbClr val="EEF6FC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本步骤目标　</a:t>
            </a: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验证通过后按顺序完成正式迁移；存量已预迁，切换窗口只做最后增量（delta）与验证。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产品迁移顺序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16661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① 目标租户预置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42845" y="2569464"/>
            <a:ext cx="109728" cy="109728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489149" y="2395728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489149" y="2395728"/>
            <a:ext cx="16661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② Exchange 邮箱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91914" y="2569464"/>
            <a:ext cx="109728" cy="109728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338218" y="2395728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338218" y="2395728"/>
            <a:ext cx="16661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③ OneDrive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0984" y="2569464"/>
            <a:ext cx="109728" cy="109728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187288" y="2395728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187288" y="2395728"/>
            <a:ext cx="16661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④ SharePoint Online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90053" y="2569464"/>
            <a:ext cx="109728" cy="109728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036357" y="2395728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036357" y="2395728"/>
            <a:ext cx="16661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⑤ Teams 团队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39122" y="2569464"/>
            <a:ext cx="109728" cy="109728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885426" y="2395728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BBD7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885426" y="2395728"/>
            <a:ext cx="16661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⑥ 域名切换 + 增量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108960"/>
            <a:ext cx="10911535" cy="548640"/>
          </a:xfrm>
          <a:prstGeom prst="roundRect">
            <a:avLst>
              <a:gd name="adj" fmla="val 8333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40080" y="3108960"/>
            <a:ext cx="91440" cy="5486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14400" y="310896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迁入机制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域名切换前，目标租户以临时域名（onmicrosoft.com）预置账号与许可，即可正常接收预迁移数据；此时原域名仍在 21V 正常收发，业务不受影响。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840480"/>
            <a:ext cx="3454298" cy="1874520"/>
          </a:xfrm>
          <a:prstGeom prst="roundRect">
            <a:avLst>
              <a:gd name="adj" fmla="val 2927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40080" y="3840480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2960" y="402336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先账号、再邮箱文件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41248" y="4480560"/>
            <a:ext cx="307025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目标租户预置身份与许可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 / OneDrive 先行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存量提前分批搬迁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68698" y="3840480"/>
            <a:ext cx="3454298" cy="1874520"/>
          </a:xfrm>
          <a:prstGeom prst="roundRect">
            <a:avLst>
              <a:gd name="adj" fmla="val 2927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368698" y="3840480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551578" y="402336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SharePoint 重点单列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69866" y="4480560"/>
            <a:ext cx="307025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站点结构 → 元数据 → 内容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权限矩阵与大库单独排期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详见 SharePoint Online 详案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97317" y="3840480"/>
            <a:ext cx="3454298" cy="1874520"/>
          </a:xfrm>
          <a:prstGeom prst="roundRect">
            <a:avLst>
              <a:gd name="adj" fmla="val 2927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097317" y="3840480"/>
            <a:ext cx="3454298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280197" y="402336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窗口与增量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98485" y="4480560"/>
            <a:ext cx="307025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安排在业务停用窗口（周末/夜间）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切换窗口只做最后增量</a:t>
            </a:r>
            <a:endParaRPr lang="en-US" sz="105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时间区间待数据调研后确定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78D4"/>
                </a:solidFill>
                <a:latin typeface="Segoe UI"/>
                <a:ea typeface="Segoe UI"/>
              </a:rPr>
              <a:t>06　SharePoint Online 详案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3864"/>
                </a:solidFill>
                <a:latin typeface="Segoe UI Semibold"/>
                <a:ea typeface="Segoe UI Semibold"/>
              </a:rPr>
              <a:t>SharePoint 内容可迁性总览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solidFill>
            <a:srgbClr val="EE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4543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078D4"/>
                </a:solidFill>
                <a:latin typeface="Segoe UI"/>
                <a:ea typeface="Segoe UI"/>
              </a:rPr>
              <a:t>SharePoint 内容按“迁移难度”分三类。大部分内容可直接迁移，少量需迁后重设，仅自定义开发需在目标重建——下图示意各类占比与边界。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3484778" cy="31089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194560"/>
            <a:ext cx="3484778" cy="914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395728"/>
            <a:ext cx="31190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Segoe UI Semibold"/>
                <a:ea typeface="Segoe UI Semibold"/>
              </a:rPr>
              <a:t>可直接迁移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761488"/>
            <a:ext cx="311901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07C10"/>
                </a:solidFill>
                <a:latin typeface="Segoe UI"/>
                <a:ea typeface="Segoe UI"/>
              </a:rPr>
              <a:t>原样搬迁，保真度高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108959"/>
            <a:ext cx="311901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文档库文件与文件夹层级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列表、列表项与网站页面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内容类型与托管元数据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权限组（按映射重建）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版本历史（按保留策略）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3458" y="2194560"/>
            <a:ext cx="3484778" cy="31089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53458" y="2194560"/>
            <a:ext cx="3484778" cy="9144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6338" y="2395728"/>
            <a:ext cx="31190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Segoe UI Semibold"/>
                <a:ea typeface="Segoe UI Semibold"/>
              </a:rPr>
              <a:t>迁后需重设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338" y="2761488"/>
            <a:ext cx="311901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83B01"/>
                </a:solidFill>
                <a:latin typeface="Segoe UI"/>
                <a:ea typeface="Segoe UI"/>
              </a:rPr>
              <a:t>数据不丢，链接/视图需重建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338" y="3108959"/>
            <a:ext cx="311901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共享链接需重新生成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工作流运行历史不迁移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部分 Web 部件需重配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超长 URL / 非法字符需治理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大列表（&gt;5000）视图需重建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6836" y="2194560"/>
            <a:ext cx="3484778" cy="31089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6836" y="2194560"/>
            <a:ext cx="3484778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9716" y="2395728"/>
            <a:ext cx="31190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Segoe UI Semibold"/>
                <a:ea typeface="Segoe UI Semibold"/>
              </a:rPr>
              <a:t>需目标重建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9716" y="2761488"/>
            <a:ext cx="311901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078D4"/>
                </a:solidFill>
                <a:latin typeface="Segoe UI"/>
                <a:ea typeface="Segoe UI"/>
              </a:rPr>
              <a:t>无法平移，在 Global 新建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9716" y="3108959"/>
            <a:ext cx="311901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Power Automate 流程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SPFx 解决方案与脚本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敏感度标签与外部共享策略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应用注册与连接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01F1E"/>
                </a:solidFill>
                <a:latin typeface="Segoe UI"/>
                <a:ea typeface="Segoe UI"/>
              </a:rPr>
              <a:t>· 站点级自定义设置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806440"/>
            <a:ext cx="10911535" cy="594360"/>
          </a:xfrm>
          <a:prstGeom prst="rect">
            <a:avLst/>
          </a:prstGeom>
          <a:solidFill>
            <a:srgbClr val="EE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806440"/>
            <a:ext cx="10454335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3864"/>
                </a:solidFill>
                <a:latin typeface="Segoe UI"/>
                <a:ea typeface="Segoe UI"/>
              </a:rPr>
              <a:t>责任边界　绿色与橙色两类由我方负责迁移与重设；蓝色（自定义开发）由我方提供清单与指引，重建范围、分工与是否纳入本期，双方另行约定。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A19F9D"/>
                </a:solidFill>
                <a:latin typeface="Segoe UI"/>
                <a:ea typeface="Segoe UI"/>
              </a:rPr>
              <a:t>Microsoft 365 迁移方案  |  世纪互联（21Vianet）→ Global 全球版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A19F9D"/>
                </a:solidFill>
                <a:latin typeface="Segoe UI"/>
                <a:ea typeface="Segoe UI"/>
              </a:rPr>
              <a:t>Microsoft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A19F9D"/>
                </a:solidFill>
                <a:latin typeface="Segoe UI"/>
                <a:ea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　SharePoint Online 详案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范围盘点与可迁性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1091153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 Online 是本次迁移的重点。先完成范围盘点，再按“可直接迁移 / 迁移后需重设 / 需在目标重建”三类划分内容，明确每类的迁移方式与责任边界。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范围盘点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938528"/>
            <a:ext cx="2535860" cy="1371600"/>
          </a:xfrm>
          <a:prstGeom prst="roundRect">
            <a:avLst>
              <a:gd name="adj" fmla="val 400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0080" y="1938528"/>
            <a:ext cx="2535860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2170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站点层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2578608"/>
            <a:ext cx="21518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通讯 / 团队站点、子网站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 关联与导航结构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站点集与模板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431972" y="1938528"/>
            <a:ext cx="2535860" cy="1371600"/>
          </a:xfrm>
          <a:prstGeom prst="roundRect">
            <a:avLst>
              <a:gd name="adj" fmla="val 400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431972" y="1938528"/>
            <a:ext cx="2535860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614852" y="2121408"/>
            <a:ext cx="2170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内容层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33140" y="2578608"/>
            <a:ext cx="21518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文档库、文件夹与文件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列表与列表项、网站页面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版本历史（按策略）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223864" y="1938528"/>
            <a:ext cx="2535860" cy="1371600"/>
          </a:xfrm>
          <a:prstGeom prst="roundRect">
            <a:avLst>
              <a:gd name="adj" fmla="val 400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223864" y="1938528"/>
            <a:ext cx="2535860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6744" y="2121408"/>
            <a:ext cx="2170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治理层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5032" y="2578608"/>
            <a:ext cx="21518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权限组与继承断点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敏感度标签、保留策略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外部共享设置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015755" y="1938528"/>
            <a:ext cx="2535860" cy="1371600"/>
          </a:xfrm>
          <a:prstGeom prst="roundRect">
            <a:avLst>
              <a:gd name="adj" fmla="val 400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015755" y="1938528"/>
            <a:ext cx="2535860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98635" y="2121408"/>
            <a:ext cx="2170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自动化定制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216923" y="2578608"/>
            <a:ext cx="21518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Automate 流程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SPFx / 脚本与定制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内容类型与托管元数据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4008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可迁性说明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767328"/>
            <a:ext cx="3454298" cy="1874520"/>
          </a:xfrm>
          <a:prstGeom prst="roundRect">
            <a:avLst>
              <a:gd name="adj" fmla="val 2927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0080" y="3767328"/>
            <a:ext cx="3454298" cy="914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2960" y="395020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可迁移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1248" y="4407408"/>
            <a:ext cx="307025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文档库文件与文件夹层级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列表与列表项、网站页面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内容类型与托管元数据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权限组（重映射后）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版本历史（按保留策略）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368698" y="3767328"/>
            <a:ext cx="3454298" cy="1874520"/>
          </a:xfrm>
          <a:prstGeom prst="roundRect">
            <a:avLst>
              <a:gd name="adj" fmla="val 2927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368698" y="3767328"/>
            <a:ext cx="3454298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551578" y="395020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迁移后需重设（数据不丢）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69866" y="4407408"/>
            <a:ext cx="307025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数据本身不丢，以下需迁后重建/重设： / 共享链接需重新生成 / 工作流运行历史不迁移 / 部分 Web 部件需重配 / 超长 URL、非法字符需治理 / 大列表（&gt;5000）视图需重建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工作流运行历史不迁移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部分 Web 部件需重配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超长 URL / 非法字符需治理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大列表（&gt;5000）视图需重建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097317" y="3767328"/>
            <a:ext cx="3454298" cy="1874520"/>
          </a:xfrm>
          <a:prstGeom prst="roundRect">
            <a:avLst>
              <a:gd name="adj" fmla="val 2927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097317" y="3767328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280197" y="395020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需在目标重建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98485" y="4407408"/>
            <a:ext cx="307025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Automate 流程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SPFx 解决方案与脚本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敏感度标签与外部共享策略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应用注册与连接</a:t>
            </a:r>
            <a:endParaRPr lang="en-US" sz="98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站点级自定义设置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40080" y="5742432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40080" y="5742432"/>
            <a:ext cx="91440" cy="4572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14400" y="5742432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产出物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站点清单 + 容量 + 条目数 + 权限矩阵 + 大库/大文件标注（待采集），作为分批排期依据。工作边界：标准内容由我方迁移；客户自定义开发（Power Automate / SPFx 等）由我方提供清单与指引，重建范围与分工双方另行约定。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　SharePoint Online 详案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分阶段、权限、限流与验收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021373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8AB4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0213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① 预评估盘点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98029" y="1536192"/>
            <a:ext cx="128016" cy="128016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862621" y="1371600"/>
            <a:ext cx="2021373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8AB4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862621" y="1371600"/>
            <a:ext cx="20213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② 目标侧搭架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20569" y="1536192"/>
            <a:ext cx="128016" cy="128016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85161" y="1371600"/>
            <a:ext cx="2021373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8AB4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85161" y="1371600"/>
            <a:ext cx="20213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③ 预迁移存量对账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43110" y="1536192"/>
            <a:ext cx="128016" cy="128016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307702" y="1371600"/>
            <a:ext cx="2021373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8AB4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07702" y="1371600"/>
            <a:ext cx="20213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④ 增量 delta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365651" y="1536192"/>
            <a:ext cx="128016" cy="128016"/>
          </a:xfrm>
          <a:prstGeom prst="rightArrow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530243" y="1371600"/>
            <a:ext cx="2021373" cy="457200"/>
          </a:xfrm>
          <a:prstGeom prst="roundRect">
            <a:avLst>
              <a:gd name="adj" fmla="val 12000"/>
            </a:avLst>
          </a:prstGeom>
          <a:solidFill>
            <a:srgbClr val="EEF6FC"/>
          </a:solidFill>
          <a:ln w="12700">
            <a:solidFill>
              <a:srgbClr val="8AB4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530243" y="1371600"/>
            <a:ext cx="20213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⑤ 切换与验证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190195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说明：存量分批预迁并对账，切换窗口设站点只读窗口，只做最后增量后切换。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286000"/>
            <a:ext cx="3454298" cy="2670048"/>
          </a:xfrm>
          <a:prstGeom prst="roundRect">
            <a:avLst>
              <a:gd name="adj" fmla="val 205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2286000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22960" y="246888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身份与权限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2926080"/>
            <a:ext cx="3070250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UPN 映射：源账号→目标账号一一对应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M365 组 / 安全组在目标侧重建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继承断点（断开继承的权限）重设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外部 / 匿名共享链接重新生成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敏感度标签外部共享先在目标启用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68698" y="2286000"/>
            <a:ext cx="3454298" cy="2670048"/>
          </a:xfrm>
          <a:prstGeom prst="roundRect">
            <a:avLst>
              <a:gd name="adj" fmla="val 205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368698" y="2286000"/>
            <a:ext cx="3454298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551578" y="246888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大库与限流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69866" y="2926080"/>
            <a:ext cx="3070250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错峰、控并发、分批迁移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大文件分块传输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超长 URL / 非法字符先行治理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签出文件先签入再迁移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大列表（&gt;5000）建索引、重建视图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97317" y="2286000"/>
            <a:ext cx="3454298" cy="2670048"/>
          </a:xfrm>
          <a:prstGeom prst="roundRect">
            <a:avLst>
              <a:gd name="adj" fmla="val 2055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097317" y="2286000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80197" y="246888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验证与验收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98485" y="2926080"/>
            <a:ext cx="3070250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条目数 + 字节双向对账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权限抽检（站点 / 库 / 项级）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页面与 News / Web 部件渲染检查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搜索重新索引、链接可达</a:t>
            </a:r>
            <a:endParaRPr lang="en-US" sz="1000" dirty="0"/>
          </a:p>
          <a:p>
            <a:pPr marL="139700" indent="-1397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业务签字 → 进入 Hypercare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138928"/>
            <a:ext cx="10911535" cy="548640"/>
          </a:xfrm>
          <a:prstGeom prst="roundRect">
            <a:avLst>
              <a:gd name="adj" fmla="val 8333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0080" y="5138928"/>
            <a:ext cx="91440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14400" y="5138928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用户影响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切换后 OneDrive 与 SharePoint 需重新同步、快捷方式重建；原共享链接 / 收藏失效需重新获取（数据本身不受影响），由桌面支持统一指引。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　域名切换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域名切换与影响控制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713232"/>
          </a:xfrm>
          <a:prstGeom prst="roundRect">
            <a:avLst>
              <a:gd name="adj" fmla="val 6410"/>
            </a:avLst>
          </a:prstGeom>
          <a:solidFill>
            <a:srgbClr val="EAF1FB"/>
          </a:solidFill>
          <a:ln w="12700">
            <a:solidFill>
              <a:srgbClr val="BBD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4543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说明　</a:t>
            </a: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同一自定义域名（如 @公司.com）同一时刻只能在一个租户中验证生效，因此需在统一窗口完成域名切换。通过提前在新环境预置账号与数据、优化解析记录，尽量缩短过渡期影响。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522144" cy="2286000"/>
          </a:xfrm>
          <a:prstGeom prst="roundRect">
            <a:avLst>
              <a:gd name="adj" fmla="val 240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522144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26832" y="260604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26832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3246120"/>
            <a:ext cx="230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先在新环境预置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" y="3630168"/>
            <a:ext cx="22295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侧先用临时域名建好账号、邮箱、许可，并预迁移数据；此时原域名仍在 21V 正常收发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6232" y="3383280"/>
            <a:ext cx="146304" cy="182880"/>
          </a:xfrm>
          <a:prstGeom prst="line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436544" y="2331720"/>
            <a:ext cx="2522144" cy="2286000"/>
          </a:xfrm>
          <a:prstGeom prst="roundRect">
            <a:avLst>
              <a:gd name="adj" fmla="val 240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436544" y="2331720"/>
            <a:ext cx="2522144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23296" y="2606040"/>
            <a:ext cx="548640" cy="548640"/>
          </a:xfrm>
          <a:prstGeom prst="ellipse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423296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46272" y="3246120"/>
            <a:ext cx="230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切换域名解析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82848" y="3630168"/>
            <a:ext cx="22295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先把源租户用户与邮件地址改回临时域名（onmicrosoft.com），从 21V 移除该自定义域名，再切 MX / 自动发现等解析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22696" y="3383280"/>
            <a:ext cx="146304" cy="182880"/>
          </a:xfrm>
          <a:prstGeom prst="line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33008" y="2331720"/>
            <a:ext cx="2522144" cy="2286000"/>
          </a:xfrm>
          <a:prstGeom prst="roundRect">
            <a:avLst>
              <a:gd name="adj" fmla="val 240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233008" y="2331720"/>
            <a:ext cx="2522144" cy="914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219760" y="2606040"/>
            <a:ext cx="548640" cy="548640"/>
          </a:xfrm>
          <a:prstGeom prst="ellipse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21976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42736" y="3246120"/>
            <a:ext cx="230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在新环境验证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79312" y="3630168"/>
            <a:ext cx="22295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在 Global 重新验证该域名，确认邮件流与登录解析全部生效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819159" y="3383280"/>
            <a:ext cx="146304" cy="182880"/>
          </a:xfrm>
          <a:prstGeom prst="line">
            <a:avLst/>
          </a:prstGeom>
          <a:solidFill>
            <a:srgbClr val="A19F9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9029471" y="2331720"/>
            <a:ext cx="2522144" cy="2286000"/>
          </a:xfrm>
          <a:prstGeom prst="roundRect">
            <a:avLst>
              <a:gd name="adj" fmla="val 2400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029471" y="2331720"/>
            <a:ext cx="2522144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016223" y="260604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016223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139199" y="3246120"/>
            <a:ext cx="230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切回正式域名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75775" y="3630168"/>
            <a:ext cx="22295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切换窗口内对外邮件由 MX 暂存重投不会丢信；窗口后对外地址不变，用户仅需重新登录一次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4892040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40080" y="4892040"/>
            <a:ext cx="91440" cy="5669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14400" y="4892040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如何缩短过渡期影响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提前压低 DNS TTL、备好解析记录、选周末夜间操作；过渡期发往该域名的邮件会自动重试投递，正常不会丢失。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　系统验证与验收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各产品验证方法与验收标准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正式迁移完成后，由各角色按下表逐项验证；全部通过并签字确认后，进入切换后保障期（Hypercare）。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323697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产品 / 服务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验证方法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验收标准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F386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Exchange Online</a:t>
                      </a:r>
                      <a:endParaRPr lang="en-US" sz="106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OWA / Outlook 收发内外邮件；比对邮件与文件夹条目数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收发正常、条目一致、规则与签名可用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F386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OneDrive</a:t>
                      </a:r>
                      <a:endParaRPr lang="en-US" sz="106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打开 / 编辑文件，比对文件数与容量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文件可访问、数量一致、共享链接可用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F386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SharePoint Online</a:t>
                      </a:r>
                      <a:endParaRPr lang="en-US" sz="106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访问站点 / 文档库 / 列表 / 页面，检查权限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站点完整、元数据正确、权限受控、可搜索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F386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Microsoft Teams</a:t>
                      </a:r>
                      <a:endParaRPr lang="en-US" sz="106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打开团队 / 频道，检查文件与标签页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团队 / 频道在位、频道文件可访问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F386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Microsoft Entra ID / 登录</a:t>
                      </a:r>
                      <a:endParaRPr lang="en-US" sz="106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用账号登录各服务及 SSO 系统、MFA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登录正常、MFA / SSO 可用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F386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邮件流 / 外部系统</a:t>
                      </a:r>
                      <a:endParaRPr lang="en-US" sz="106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内外部收发、业务自动发信系统验证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201F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内外邮件互通、业务系统发信正常</a:t>
                      </a:r>
                      <a:endParaRPr lang="en-US" sz="10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983480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640080" y="4983480"/>
            <a:ext cx="91440" cy="566928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914400" y="4983480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验收流程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各角色逐项验证 → 数据数量核对一致 → 业务、IT 与各部门负责人确认 → PM 签字 → 进入 Hypercare（保障期），集中答疑与处理遗留问题。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　回切与源租户退役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异常时如何安全回切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658368"/>
          </a:xfrm>
          <a:prstGeom prst="roundRect">
            <a:avLst>
              <a:gd name="adj" fmla="val 6944"/>
            </a:avLst>
          </a:prstGeom>
          <a:solidFill>
            <a:srgbClr val="FDF3E7"/>
          </a:solidFill>
          <a:ln w="12700">
            <a:solidFill>
              <a:srgbClr val="F2C9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4543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83B0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数据保留　</a:t>
            </a: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迁移过程中源环境（21V）数据始终保留、不删除。在确认全部稳定之前，保留回切余地，可退回原环境继续办公。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54298" cy="2468880"/>
          </a:xfrm>
          <a:prstGeom prst="roundRect">
            <a:avLst>
              <a:gd name="adj" fmla="val 2222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54298" cy="914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41248" y="2505456"/>
            <a:ext cx="305196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切换前（测试 / 预迁移）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3127248"/>
            <a:ext cx="305196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如何回切：暂停迁移、修正后重迁；用户继续在原环境办公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业务影响：无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大致时长：即时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68698" y="2286000"/>
            <a:ext cx="3454298" cy="2468880"/>
          </a:xfrm>
          <a:prstGeom prst="roundRect">
            <a:avLst>
              <a:gd name="adj" fmla="val 2222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368698" y="2286000"/>
            <a:ext cx="3454298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69866" y="2505456"/>
            <a:ext cx="305196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域名切换后短期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69866" y="3127248"/>
            <a:ext cx="305196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如何回切：在 Global 释放域名、21V 重新验证，MX 切回原环境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业务影响：邮件短暂过渡，需双向协调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大致时长：取决于 DNS TTL，约数十分钟–数小时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7317" y="2286000"/>
            <a:ext cx="3454298" cy="2468880"/>
          </a:xfrm>
          <a:prstGeom prst="roundRect">
            <a:avLst>
              <a:gd name="adj" fmla="val 2222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097317" y="2286000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98485" y="2505456"/>
            <a:ext cx="305196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已切换并使用一段时间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8485" y="3127248"/>
            <a:ext cx="305196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如何回切：需反向搬回目标侧新增数据并再次切换域名，代价最高，建议仅作兜底、优先修复前进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业务影响：较大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大致时长：建议保障期内尽早决策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91440" cy="5669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4400" y="4983480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回切触发与建议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出现严重邮件中断、数据缺失或关键系统不可用时触发回切；建议在保障期内尽早决策，越晚回切代价越高。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78D4"/>
                </a:solidFill>
                <a:latin typeface="Segoe UI"/>
                <a:ea typeface="Segoe UI"/>
              </a:rPr>
              <a:t>09　回切与源租户退役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3864"/>
                </a:solidFill>
                <a:latin typeface="Segoe UI Semibold"/>
                <a:ea typeface="Segoe UI Semibold"/>
              </a:rPr>
              <a:t>回切决策机制与触发标准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solidFill>
            <a:srgbClr val="EE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4543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078D4"/>
                </a:solidFill>
                <a:latin typeface="Segoe UI"/>
                <a:ea typeface="Segoe UI"/>
              </a:rPr>
              <a:t>回切是异常时的兜底保障。明确“谁来判断、什么条件触发、回切到什么程度”，避免临场犹豫。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49240" cy="31089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49240" cy="9144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Segoe UI Semibold"/>
                <a:ea typeface="Segoe UI Semibold"/>
              </a:rPr>
              <a:t>触发标准（满足任一）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892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>· 核心邮件收发中断，且预计恢复 &gt; 既定阈值（如 4 小时）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>· 关键业务数据缺失或不可访问，影响正常办公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>· 关键集成 / 单点登录系统不可用，无临时绕行方案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>· 切换后短期内出现无法快速修复的重大故障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>未达触发线的个别问题，优先“向前修复”，不轻易回切。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2375" y="2103120"/>
            <a:ext cx="5349240" cy="31089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2375" y="2103120"/>
            <a:ext cx="5349240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33172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Segoe UI Semibold"/>
                <a:ea typeface="Segoe UI Semibold"/>
              </a:rPr>
              <a:t>决策机制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880360"/>
            <a:ext cx="4892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>· 由客户业务负责人 + 我方 PM 联合判断、共同拍板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>· 触发后 1 小时内召集双方关键人评估、给出结论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>· 回切只影响未稳定部分；已验证通过的内容不受影响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>· 回切动作、原因、影响范围全程留痕，纳入项目记录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1F1E"/>
                </a:solidFill>
                <a:latin typeface="Segoe UI"/>
                <a:ea typeface="Segoe UI"/>
              </a:rPr>
              <a:t>原则：保障期内越早决策，回切代价越低。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115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01F1E"/>
                </a:solidFill>
                <a:latin typeface="Segoe UI"/>
                <a:ea typeface="Segoe UI"/>
              </a:rPr>
              <a:t>说明　本页与上页《异常时如何安全回切》配合使用：上页讲“不同阶段怎么回切、代价多大”，本页讲“由谁、依据什么条件决定回切”。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A19F9D"/>
                </a:solidFill>
                <a:latin typeface="Segoe UI"/>
                <a:ea typeface="Segoe UI"/>
              </a:rPr>
              <a:t>Microsoft 365 迁移方案  |  世纪互联（21Vianet）→ Global 全球版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A19F9D"/>
                </a:solidFill>
                <a:latin typeface="Segoe UI"/>
                <a:ea typeface="Segoe UI"/>
              </a:rPr>
              <a:t>Microsoft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A19F9D"/>
                </a:solidFill>
                <a:latin typeface="Segoe UI"/>
                <a:ea typeface="Segoe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　回切与源租户退役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源租户退役与收尾清理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确认全部稳定、过保障期后，按下列步骤有序退役源环境，回收资源并归档交付。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977481" cy="2606040"/>
          </a:xfrm>
          <a:prstGeom prst="roundRect">
            <a:avLst>
              <a:gd name="adj" fmla="val 277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977481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354501" y="2304288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54501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980944"/>
            <a:ext cx="179460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确认保留期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3493008"/>
            <a:ext cx="168487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确认源环境数据保留期与法务 / 合规要求，明确可退役时间点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73593" y="2011680"/>
            <a:ext cx="1977481" cy="2606040"/>
          </a:xfrm>
          <a:prstGeom prst="roundRect">
            <a:avLst>
              <a:gd name="adj" fmla="val 277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873593" y="2011680"/>
            <a:ext cx="1977481" cy="914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588014" y="2304288"/>
            <a:ext cx="548640" cy="548640"/>
          </a:xfrm>
          <a:prstGeom prst="ellipse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588014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65033" y="2980944"/>
            <a:ext cx="179460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账号许可停用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9897" y="3493008"/>
            <a:ext cx="168487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停用源租户账号、回收 21V 侧许可，避免重复计费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07107" y="2011680"/>
            <a:ext cx="1977481" cy="2606040"/>
          </a:xfrm>
          <a:prstGeom prst="roundRect">
            <a:avLst>
              <a:gd name="adj" fmla="val 277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107107" y="2011680"/>
            <a:ext cx="1977481" cy="91440"/>
          </a:xfrm>
          <a:prstGeom prst="rect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821528" y="2304288"/>
            <a:ext cx="548640" cy="548640"/>
          </a:xfrm>
          <a:prstGeom prst="ellipse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821528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98547" y="2980944"/>
            <a:ext cx="179460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迁移环境回收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3411" y="3493008"/>
            <a:ext cx="168487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下线迁移服务器，回收迁移服务账号与高权限授权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40620" y="2011680"/>
            <a:ext cx="1977481" cy="2606040"/>
          </a:xfrm>
          <a:prstGeom prst="roundRect">
            <a:avLst>
              <a:gd name="adj" fmla="val 277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340620" y="2011680"/>
            <a:ext cx="1977481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055041" y="2304288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055041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32060" y="2980944"/>
            <a:ext cx="179460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解析与域名清理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86924" y="3493008"/>
            <a:ext cx="168487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核对 DNS 记录，移除源侧残留解析与域名绑定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74134" y="2011680"/>
            <a:ext cx="1977481" cy="2606040"/>
          </a:xfrm>
          <a:prstGeom prst="roundRect">
            <a:avLst>
              <a:gd name="adj" fmla="val 2774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9574134" y="2011680"/>
            <a:ext cx="1977481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0288554" y="2304288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288554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665574" y="2980944"/>
            <a:ext cx="179460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文档归档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20438" y="3493008"/>
            <a:ext cx="168487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归档对账报告、权限矩阵与操作记录，完成项目交付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892040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F4F8FC"/>
          </a:solidFill>
          <a:ln w="127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40080" y="4892040"/>
            <a:ext cx="91440" cy="5669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14400" y="4892040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退役原则　</a:t>
            </a:r>
            <a:r>
              <a:rPr lang="en-US" sz="11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先确认稳定、留足保留期，再分步退役；高权限账号与迁移服务器最后回收，全过程留痕可追溯。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迁移方案  |  世纪互联（21Vianet）→ Global 全球版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340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Microsof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640080" cy="64008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关键成功因素与下一步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ADC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关键成功因素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单一对接人统筹，决策与排期清晰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及时提供管理员账号与数据情况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合规与数据出境审批提前就绪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业务部门配合验证与统一停用窗口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用户沟通到位，切换后及时答疑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5242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ADC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2651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3093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31152" y="2633472"/>
            <a:ext cx="4602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填写迁移信息了解表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31152" y="2926080"/>
            <a:ext cx="4602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6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由相关部门协助填写，必填项优先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36499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30936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31152" y="3346704"/>
            <a:ext cx="4602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回收并评估数据量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31152" y="3639312"/>
            <a:ext cx="4602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6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补全迁移内容指标、确认迁移限制项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078224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30936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31152" y="4059936"/>
            <a:ext cx="4602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出具迁移方案与实施计划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1152" y="4352544"/>
            <a:ext cx="4602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6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明确范围、顺序与统一切换窗口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791456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309360" y="4791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31152" y="4773168"/>
            <a:ext cx="4602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确认后启动环境准备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31152" y="5065776"/>
            <a:ext cx="4602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6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进入测试与正式迁移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12700">
            <a:solidFill>
              <a:srgbClr val="3A51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Pei Wang　|　peiwa@microsoft.com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1745</Words>
  <Application>Microsoft Office PowerPoint</Application>
  <PresentationFormat>宽屏</PresentationFormat>
  <Paragraphs>510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等线</vt:lpstr>
      <vt:lpstr>Arial</vt:lpstr>
      <vt:lpstr>Segoe UI</vt:lpstr>
      <vt:lpstr>Segoe UI Semibold</vt:lpstr>
      <vt:lpstr>Segoe UI Semilight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Pei Wang</cp:lastModifiedBy>
  <cp:revision>6</cp:revision>
  <dcterms:created xsi:type="dcterms:W3CDTF">2026-06-05T14:55:12Z</dcterms:created>
  <dcterms:modified xsi:type="dcterms:W3CDTF">2026-06-05T16:22:33Z</dcterms:modified>
</cp:coreProperties>
</file>